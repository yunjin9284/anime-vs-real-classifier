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37569-E9C0-4684-8264-9EA7DC2EEE7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3D0F3-DBF2-4BA3-8C9D-024D0574E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864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3D0F3-DBF2-4BA3-8C9D-024D0574ED2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04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3D0F3-DBF2-4BA3-8C9D-024D0574ED2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37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17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22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57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9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51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6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10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44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83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09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98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3BCBBFE-222E-4DE1-99F6-5C7E2BFDD685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3B47A-82C7-49CF-ABC1-9AFE76B71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52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I419gLgVT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53FA7-0353-344B-9621-34C40A226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6031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4500" b="1" dirty="0"/>
              <a:t>만화 </a:t>
            </a:r>
            <a:r>
              <a:rPr lang="en-US" altLang="ko-KR" sz="4500" b="1" dirty="0"/>
              <a:t>vs </a:t>
            </a:r>
            <a:r>
              <a:rPr lang="ko-KR" altLang="en-US" sz="4500" b="1" dirty="0"/>
              <a:t>실사 이미지 분류 웹 서비스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8A5E77-93C9-671F-B3A8-EDEEC7919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2570332 </a:t>
            </a:r>
            <a:r>
              <a:rPr lang="ko-KR" altLang="en-US" sz="2800" dirty="0" err="1"/>
              <a:t>윤소진</a:t>
            </a:r>
            <a:endParaRPr lang="ko-KR" altLang="en-US" sz="2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6B5267-EDAC-C6FE-CBF4-C5E53759D1CD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42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09F38-4EEB-7B1A-18CA-EDD612C1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이미지 분류</a:t>
            </a:r>
            <a:r>
              <a:rPr lang="en-US" altLang="ko-KR" b="1" dirty="0"/>
              <a:t> – </a:t>
            </a:r>
            <a:r>
              <a:rPr lang="ko-KR" altLang="en-US" b="1" dirty="0"/>
              <a:t>목적 및 기대효과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1A609-6F8A-12B4-DFED-3E243A6D7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업로드 된 이미지를 자동으로 </a:t>
            </a:r>
            <a:r>
              <a:rPr lang="en-US" altLang="ko-KR" dirty="0"/>
              <a:t>Cartoon / Real</a:t>
            </a:r>
            <a:r>
              <a:rPr lang="ko-KR" altLang="en-US" dirty="0"/>
              <a:t>로 분류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이미지 분류 과정을 통해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딥러닝 모델 활용 경험과 웹 기반 서비스 구현 능력 습득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A3E955-AB0F-0511-6486-F627B9FAD753}"/>
              </a:ext>
            </a:extLst>
          </p:cNvPr>
          <p:cNvSpPr/>
          <p:nvPr/>
        </p:nvSpPr>
        <p:spPr>
          <a:xfrm>
            <a:off x="1457996" y="3685855"/>
            <a:ext cx="2668635" cy="18108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이미지 업로드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모델 추론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결과 추론까지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완전한 웹 흐름 제공 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84A911-D0A9-C12D-F059-2ECD5731E009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BEDDF91-02BF-942F-6587-37A9B4C12F0B}"/>
              </a:ext>
            </a:extLst>
          </p:cNvPr>
          <p:cNvSpPr/>
          <p:nvPr/>
        </p:nvSpPr>
        <p:spPr>
          <a:xfrm>
            <a:off x="4713191" y="3685855"/>
            <a:ext cx="2668635" cy="18108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자동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분류 </a:t>
            </a:r>
            <a:r>
              <a:rPr lang="en-US" altLang="ko-KR" sz="2000" dirty="0">
                <a:solidFill>
                  <a:schemeClr val="tx1"/>
                </a:solidFill>
              </a:rPr>
              <a:t>/ </a:t>
            </a:r>
            <a:r>
              <a:rPr lang="ko-KR" altLang="en-US" sz="2000" dirty="0" err="1">
                <a:solidFill>
                  <a:schemeClr val="tx1"/>
                </a:solidFill>
              </a:rPr>
              <a:t>태깅으로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콘텐츠 관리 효율화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07B4A1D-90E9-46E5-326B-657EF184C58C}"/>
              </a:ext>
            </a:extLst>
          </p:cNvPr>
          <p:cNvSpPr/>
          <p:nvPr/>
        </p:nvSpPr>
        <p:spPr>
          <a:xfrm>
            <a:off x="7968386" y="3685855"/>
            <a:ext cx="2668635" cy="18108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향후 확장 가능</a:t>
            </a: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스타일 분석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다중 클래스 분류</a:t>
            </a:r>
            <a:r>
              <a:rPr lang="en-US" altLang="ko-KR" sz="2000" dirty="0">
                <a:solidFill>
                  <a:schemeClr val="tx1"/>
                </a:solidFill>
              </a:rPr>
              <a:t>, AI </a:t>
            </a:r>
            <a:r>
              <a:rPr lang="ko-KR" altLang="en-US" sz="2000" dirty="0">
                <a:solidFill>
                  <a:schemeClr val="tx1"/>
                </a:solidFill>
              </a:rPr>
              <a:t>이미지 탐지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10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9F8AB-088E-4B43-A873-A84ABCC2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프로젝트 개요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9DFBE0-558A-FDB6-B8EB-9B257DE42C81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D0AFC2-DA83-A4EC-922A-D135A6789BCC}"/>
              </a:ext>
            </a:extLst>
          </p:cNvPr>
          <p:cNvSpPr/>
          <p:nvPr/>
        </p:nvSpPr>
        <p:spPr>
          <a:xfrm>
            <a:off x="1674687" y="2183870"/>
            <a:ext cx="2342510" cy="24902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딥러닝 모델을 활용해 이미지를 분류하고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간단한 웹 </a:t>
            </a:r>
            <a:r>
              <a:rPr lang="en-US" altLang="ko-KR" dirty="0">
                <a:solidFill>
                  <a:schemeClr val="tx1"/>
                </a:solidFill>
              </a:rPr>
              <a:t>UI </a:t>
            </a:r>
            <a:r>
              <a:rPr lang="ko-KR" altLang="en-US" dirty="0">
                <a:solidFill>
                  <a:schemeClr val="tx1"/>
                </a:solidFill>
              </a:rPr>
              <a:t>제공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747A6B-E56D-AA9E-912E-34B0C173FAD9}"/>
              </a:ext>
            </a:extLst>
          </p:cNvPr>
          <p:cNvSpPr/>
          <p:nvPr/>
        </p:nvSpPr>
        <p:spPr>
          <a:xfrm>
            <a:off x="4931672" y="2183870"/>
            <a:ext cx="2342510" cy="24902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핵심 키워드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CNN,CLIP, Flask, </a:t>
            </a:r>
            <a:r>
              <a:rPr lang="ko-KR" altLang="en-US" dirty="0">
                <a:solidFill>
                  <a:schemeClr val="tx1"/>
                </a:solidFill>
              </a:rPr>
              <a:t>이미지 업로드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출력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2357ED-8825-A3AA-0631-B1B2D9075CF3}"/>
              </a:ext>
            </a:extLst>
          </p:cNvPr>
          <p:cNvSpPr/>
          <p:nvPr/>
        </p:nvSpPr>
        <p:spPr>
          <a:xfrm>
            <a:off x="8188657" y="2183870"/>
            <a:ext cx="2342510" cy="24902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동기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사람이 쉽게 구분할 수 있는 문제라도 자동화 경험 제공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5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471B5-180C-FCB4-500D-E1CE31ED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시스템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E63229-D22D-8E01-5035-A10EAA591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입력 </a:t>
            </a:r>
            <a:r>
              <a:rPr lang="en-US" altLang="ko-KR" dirty="0"/>
              <a:t>-&gt; </a:t>
            </a:r>
            <a:r>
              <a:rPr lang="ko-KR" altLang="en-US" dirty="0"/>
              <a:t>추론 </a:t>
            </a:r>
            <a:r>
              <a:rPr lang="en-US" altLang="ko-KR" dirty="0"/>
              <a:t>-&gt; </a:t>
            </a:r>
            <a:r>
              <a:rPr lang="ko-KR" altLang="en-US" dirty="0"/>
              <a:t>출력의 전체 흐름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3F2811-CAC9-50E0-02E6-3DFD2B11AB74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19FB23-14D8-56E4-FD1F-9C1A26624B9C}"/>
              </a:ext>
            </a:extLst>
          </p:cNvPr>
          <p:cNvSpPr/>
          <p:nvPr/>
        </p:nvSpPr>
        <p:spPr>
          <a:xfrm>
            <a:off x="1098013" y="2570251"/>
            <a:ext cx="1726058" cy="19058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사용자</a:t>
            </a:r>
            <a:endParaRPr lang="en-US" altLang="ko-KR" sz="2500" dirty="0">
              <a:solidFill>
                <a:schemeClr val="bg1"/>
              </a:solidFill>
            </a:endParaRPr>
          </a:p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업로드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659604C-BF73-EDCB-A8CB-A74D0B462114}"/>
              </a:ext>
            </a:extLst>
          </p:cNvPr>
          <p:cNvSpPr/>
          <p:nvPr/>
        </p:nvSpPr>
        <p:spPr>
          <a:xfrm>
            <a:off x="2974215" y="3159670"/>
            <a:ext cx="698643" cy="582446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01CA124-E0EC-CC02-ADDF-4357A5819A29}"/>
              </a:ext>
            </a:extLst>
          </p:cNvPr>
          <p:cNvSpPr/>
          <p:nvPr/>
        </p:nvSpPr>
        <p:spPr>
          <a:xfrm>
            <a:off x="3823002" y="2570251"/>
            <a:ext cx="1726058" cy="19058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dirty="0">
                <a:solidFill>
                  <a:schemeClr val="bg1"/>
                </a:solidFill>
              </a:rPr>
              <a:t>Flask</a:t>
            </a:r>
          </a:p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서버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61CAD7B-A1A7-0C2D-CE7A-C7BBBF82A2BA}"/>
              </a:ext>
            </a:extLst>
          </p:cNvPr>
          <p:cNvSpPr/>
          <p:nvPr/>
        </p:nvSpPr>
        <p:spPr>
          <a:xfrm>
            <a:off x="5699204" y="3159670"/>
            <a:ext cx="698643" cy="582446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000EBF-4834-DB10-2A60-4B99079A6AD5}"/>
              </a:ext>
            </a:extLst>
          </p:cNvPr>
          <p:cNvSpPr/>
          <p:nvPr/>
        </p:nvSpPr>
        <p:spPr>
          <a:xfrm>
            <a:off x="6547991" y="2476072"/>
            <a:ext cx="1726058" cy="19058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딥러닝</a:t>
            </a:r>
            <a:endParaRPr lang="en-US" altLang="ko-KR" sz="2500" dirty="0">
              <a:solidFill>
                <a:schemeClr val="bg1"/>
              </a:solidFill>
            </a:endParaRPr>
          </a:p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모델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3A30FCF-B991-94D7-D3DF-DA58F5591739}"/>
              </a:ext>
            </a:extLst>
          </p:cNvPr>
          <p:cNvSpPr/>
          <p:nvPr/>
        </p:nvSpPr>
        <p:spPr>
          <a:xfrm>
            <a:off x="8424193" y="3065491"/>
            <a:ext cx="698643" cy="582446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AB1D73E-AAF5-1EE5-D3DD-3905571BBCA1}"/>
              </a:ext>
            </a:extLst>
          </p:cNvPr>
          <p:cNvSpPr/>
          <p:nvPr/>
        </p:nvSpPr>
        <p:spPr>
          <a:xfrm>
            <a:off x="9272980" y="2476072"/>
            <a:ext cx="1726058" cy="19058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결과</a:t>
            </a:r>
            <a:endParaRPr lang="en-US" altLang="ko-KR" sz="2500" dirty="0">
              <a:solidFill>
                <a:schemeClr val="bg1"/>
              </a:solidFill>
            </a:endParaRPr>
          </a:p>
          <a:p>
            <a:pPr algn="ctr"/>
            <a:r>
              <a:rPr lang="ko-KR" altLang="en-US" sz="2500" dirty="0">
                <a:solidFill>
                  <a:schemeClr val="bg1"/>
                </a:solidFill>
              </a:rPr>
              <a:t>출력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E33DE1-EF4A-DC0B-376F-109EF0F7E726}"/>
              </a:ext>
            </a:extLst>
          </p:cNvPr>
          <p:cNvSpPr/>
          <p:nvPr/>
        </p:nvSpPr>
        <p:spPr>
          <a:xfrm>
            <a:off x="2597649" y="4807478"/>
            <a:ext cx="6996701" cy="8201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설명 </a:t>
            </a: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웹에서 이미지 업로드 후 즉시 결과 확인 가능</a:t>
            </a:r>
          </a:p>
        </p:txBody>
      </p:sp>
    </p:spTree>
    <p:extLst>
      <p:ext uri="{BB962C8B-B14F-4D97-AF65-F5344CB8AC3E}">
        <p14:creationId xmlns:p14="http://schemas.microsoft.com/office/powerpoint/2010/main" val="265490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5D5A9-A875-1CB6-F63F-ABD0CA93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모델 및 데이터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A4AEF6-84D8-198E-6719-DB41826B7A5E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10D938-8B25-4992-FDA2-5FEA5F28E8EF}"/>
              </a:ext>
            </a:extLst>
          </p:cNvPr>
          <p:cNvSpPr/>
          <p:nvPr/>
        </p:nvSpPr>
        <p:spPr>
          <a:xfrm>
            <a:off x="1134905" y="1691322"/>
            <a:ext cx="9922190" cy="739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모델</a:t>
            </a:r>
            <a:r>
              <a:rPr lang="en-US" altLang="ko-KR" sz="2800" dirty="0">
                <a:solidFill>
                  <a:schemeClr val="tx1"/>
                </a:solidFill>
              </a:rPr>
              <a:t>: </a:t>
            </a:r>
            <a:r>
              <a:rPr lang="en-US" altLang="ko-KR" sz="2800" dirty="0" err="1">
                <a:solidFill>
                  <a:schemeClr val="tx1"/>
                </a:solidFill>
              </a:rPr>
              <a:t>ResNet</a:t>
            </a:r>
            <a:r>
              <a:rPr lang="en-US" altLang="ko-KR" sz="2800" dirty="0">
                <a:solidFill>
                  <a:schemeClr val="tx1"/>
                </a:solidFill>
              </a:rPr>
              <a:t> / </a:t>
            </a:r>
            <a:r>
              <a:rPr lang="en-US" altLang="ko-KR" sz="2800" dirty="0" err="1">
                <a:solidFill>
                  <a:schemeClr val="tx1"/>
                </a:solidFill>
              </a:rPr>
              <a:t>EfficientNet</a:t>
            </a:r>
            <a:r>
              <a:rPr lang="en-US" altLang="ko-KR" sz="2800" dirty="0">
                <a:solidFill>
                  <a:schemeClr val="tx1"/>
                </a:solidFill>
              </a:rPr>
              <a:t> / CLIP fine-tuning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EC64D8-3A51-E14D-CED4-8A70BE3D34C3}"/>
              </a:ext>
            </a:extLst>
          </p:cNvPr>
          <p:cNvSpPr/>
          <p:nvPr/>
        </p:nvSpPr>
        <p:spPr>
          <a:xfrm>
            <a:off x="1134905" y="2727300"/>
            <a:ext cx="9922190" cy="739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데이터셋</a:t>
            </a:r>
            <a:r>
              <a:rPr lang="en-US" altLang="ko-KR" sz="2800" dirty="0">
                <a:solidFill>
                  <a:schemeClr val="tx1"/>
                </a:solidFill>
              </a:rPr>
              <a:t>: Cartoon vs Real Image Dataset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813F3D-9784-9CD7-98E5-AD719B2BA283}"/>
              </a:ext>
            </a:extLst>
          </p:cNvPr>
          <p:cNvSpPr/>
          <p:nvPr/>
        </p:nvSpPr>
        <p:spPr>
          <a:xfrm>
            <a:off x="1141832" y="3763278"/>
            <a:ext cx="9922190" cy="739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학습</a:t>
            </a:r>
            <a:r>
              <a:rPr lang="en-US" altLang="ko-KR" sz="2800" dirty="0">
                <a:solidFill>
                  <a:schemeClr val="tx1"/>
                </a:solidFill>
              </a:rPr>
              <a:t>: </a:t>
            </a:r>
            <a:r>
              <a:rPr lang="ko-KR" altLang="en-US" sz="2800" dirty="0">
                <a:solidFill>
                  <a:schemeClr val="tx1"/>
                </a:solidFill>
              </a:rPr>
              <a:t>전이 학습</a:t>
            </a:r>
            <a:r>
              <a:rPr lang="en-US" altLang="ko-KR" sz="2800" dirty="0">
                <a:solidFill>
                  <a:schemeClr val="tx1"/>
                </a:solidFill>
              </a:rPr>
              <a:t>, </a:t>
            </a:r>
            <a:r>
              <a:rPr lang="en-US" altLang="ko-KR" sz="2800" dirty="0" err="1">
                <a:solidFill>
                  <a:schemeClr val="tx1"/>
                </a:solidFill>
              </a:rPr>
              <a:t>CrossEntropyLoss</a:t>
            </a:r>
            <a:r>
              <a:rPr lang="en-US" altLang="ko-KR" sz="2800" dirty="0">
                <a:solidFill>
                  <a:schemeClr val="tx1"/>
                </a:solidFill>
              </a:rPr>
              <a:t>, Adam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178A6E-B426-C823-BD03-4D1509860018}"/>
              </a:ext>
            </a:extLst>
          </p:cNvPr>
          <p:cNvSpPr/>
          <p:nvPr/>
        </p:nvSpPr>
        <p:spPr>
          <a:xfrm>
            <a:off x="1141832" y="4799256"/>
            <a:ext cx="9922190" cy="739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데이터 분할</a:t>
            </a:r>
            <a:r>
              <a:rPr lang="en-US" altLang="ko-KR" sz="2800" dirty="0">
                <a:solidFill>
                  <a:schemeClr val="tx1"/>
                </a:solidFill>
              </a:rPr>
              <a:t>: </a:t>
            </a:r>
            <a:r>
              <a:rPr lang="ko-KR" altLang="en-US" sz="2800" dirty="0">
                <a:solidFill>
                  <a:schemeClr val="tx1"/>
                </a:solidFill>
              </a:rPr>
              <a:t>훈련 </a:t>
            </a:r>
            <a:r>
              <a:rPr lang="en-US" altLang="ko-KR" sz="2800" dirty="0">
                <a:solidFill>
                  <a:schemeClr val="tx1"/>
                </a:solidFill>
              </a:rPr>
              <a:t>80%, </a:t>
            </a:r>
            <a:r>
              <a:rPr lang="ko-KR" altLang="en-US" sz="2800" dirty="0">
                <a:solidFill>
                  <a:schemeClr val="tx1"/>
                </a:solidFill>
              </a:rPr>
              <a:t>검증 </a:t>
            </a:r>
            <a:r>
              <a:rPr lang="en-US" altLang="ko-KR" sz="2800" dirty="0">
                <a:solidFill>
                  <a:schemeClr val="tx1"/>
                </a:solidFill>
              </a:rPr>
              <a:t>20%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AD1E75E-984C-9046-71A3-5E19C70D8B9B}"/>
              </a:ext>
            </a:extLst>
          </p:cNvPr>
          <p:cNvSpPr/>
          <p:nvPr/>
        </p:nvSpPr>
        <p:spPr>
          <a:xfrm>
            <a:off x="845127" y="1632246"/>
            <a:ext cx="928955" cy="8578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1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A5C59A1-0BF0-4D47-3112-F21C28930256}"/>
              </a:ext>
            </a:extLst>
          </p:cNvPr>
          <p:cNvSpPr/>
          <p:nvPr/>
        </p:nvSpPr>
        <p:spPr>
          <a:xfrm>
            <a:off x="845126" y="2674830"/>
            <a:ext cx="928955" cy="8578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2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76E9FF9-53C3-D47A-D07B-26CCA1E15845}"/>
              </a:ext>
            </a:extLst>
          </p:cNvPr>
          <p:cNvSpPr/>
          <p:nvPr/>
        </p:nvSpPr>
        <p:spPr>
          <a:xfrm>
            <a:off x="845126" y="3717414"/>
            <a:ext cx="928955" cy="8578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3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B38AAA2-919D-FF80-5180-D7A79E7718A0}"/>
              </a:ext>
            </a:extLst>
          </p:cNvPr>
          <p:cNvSpPr/>
          <p:nvPr/>
        </p:nvSpPr>
        <p:spPr>
          <a:xfrm>
            <a:off x="845126" y="4772346"/>
            <a:ext cx="928955" cy="8578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4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56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DD0BB-93BD-5A03-5FA1-EB863A19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88F72D-2E55-6889-12B7-40DE2D1EBD97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92E01C-1C3D-DB56-EA60-D5C3B619ECFF}"/>
              </a:ext>
            </a:extLst>
          </p:cNvPr>
          <p:cNvSpPr/>
          <p:nvPr/>
        </p:nvSpPr>
        <p:spPr>
          <a:xfrm>
            <a:off x="1134905" y="1691322"/>
            <a:ext cx="9922190" cy="739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웹에서 이미지 업로드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0EDD6F-3B7B-CED6-61F6-C57430929F79}"/>
              </a:ext>
            </a:extLst>
          </p:cNvPr>
          <p:cNvSpPr/>
          <p:nvPr/>
        </p:nvSpPr>
        <p:spPr>
          <a:xfrm>
            <a:off x="1134905" y="2727300"/>
            <a:ext cx="9922190" cy="739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모델로 </a:t>
            </a:r>
            <a:r>
              <a:rPr lang="en-US" altLang="ko-KR" sz="2800" dirty="0">
                <a:solidFill>
                  <a:schemeClr val="tx1"/>
                </a:solidFill>
              </a:rPr>
              <a:t>Cartoon / Real </a:t>
            </a:r>
            <a:r>
              <a:rPr lang="ko-KR" altLang="en-US" sz="2800" dirty="0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3349AA-E066-15D9-3057-7E2D3048BE1F}"/>
              </a:ext>
            </a:extLst>
          </p:cNvPr>
          <p:cNvSpPr/>
          <p:nvPr/>
        </p:nvSpPr>
        <p:spPr>
          <a:xfrm>
            <a:off x="1141832" y="3763278"/>
            <a:ext cx="9922190" cy="739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결과 </a:t>
            </a:r>
            <a:r>
              <a:rPr lang="en-US" altLang="ko-KR" sz="2800" dirty="0">
                <a:solidFill>
                  <a:schemeClr val="tx1"/>
                </a:solidFill>
              </a:rPr>
              <a:t>+ </a:t>
            </a:r>
            <a:r>
              <a:rPr lang="ko-KR" altLang="en-US" sz="2800" dirty="0">
                <a:solidFill>
                  <a:schemeClr val="tx1"/>
                </a:solidFill>
              </a:rPr>
              <a:t>확률 표시 </a:t>
            </a:r>
            <a:r>
              <a:rPr lang="en-US" altLang="ko-KR" sz="2800" dirty="0">
                <a:solidFill>
                  <a:schemeClr val="tx1"/>
                </a:solidFill>
              </a:rPr>
              <a:t>(</a:t>
            </a:r>
            <a:r>
              <a:rPr lang="ko-KR" altLang="en-US" sz="2800" dirty="0">
                <a:solidFill>
                  <a:schemeClr val="tx1"/>
                </a:solidFill>
              </a:rPr>
              <a:t>출력</a:t>
            </a:r>
            <a:r>
              <a:rPr lang="en-US" altLang="ko-KR" sz="2800" dirty="0">
                <a:solidFill>
                  <a:schemeClr val="tx1"/>
                </a:solidFill>
              </a:rPr>
              <a:t>)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C74158-896E-C5C9-FD1C-5C4687407733}"/>
              </a:ext>
            </a:extLst>
          </p:cNvPr>
          <p:cNvSpPr/>
          <p:nvPr/>
        </p:nvSpPr>
        <p:spPr>
          <a:xfrm>
            <a:off x="1141832" y="4799256"/>
            <a:ext cx="9922190" cy="739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기술 스택 </a:t>
            </a:r>
            <a:r>
              <a:rPr lang="en-US" altLang="ko-KR" sz="2800" dirty="0">
                <a:solidFill>
                  <a:schemeClr val="tx1"/>
                </a:solidFill>
              </a:rPr>
              <a:t>: Python, Flask, </a:t>
            </a:r>
            <a:r>
              <a:rPr lang="en-US" altLang="ko-KR" sz="2800" dirty="0" err="1">
                <a:solidFill>
                  <a:schemeClr val="tx1"/>
                </a:solidFill>
              </a:rPr>
              <a:t>PyTorch</a:t>
            </a:r>
            <a:r>
              <a:rPr lang="en-US" altLang="ko-KR" sz="2800" dirty="0">
                <a:solidFill>
                  <a:schemeClr val="tx1"/>
                </a:solidFill>
              </a:rPr>
              <a:t>, HTML/CSS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792F48B-1832-853A-9F4F-C97E7BDAD39E}"/>
              </a:ext>
            </a:extLst>
          </p:cNvPr>
          <p:cNvSpPr/>
          <p:nvPr/>
        </p:nvSpPr>
        <p:spPr>
          <a:xfrm>
            <a:off x="845127" y="1632246"/>
            <a:ext cx="928955" cy="85789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1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15A1096-861B-FAB9-2419-48CCDD7C44E5}"/>
              </a:ext>
            </a:extLst>
          </p:cNvPr>
          <p:cNvSpPr/>
          <p:nvPr/>
        </p:nvSpPr>
        <p:spPr>
          <a:xfrm>
            <a:off x="845126" y="2674830"/>
            <a:ext cx="928955" cy="85789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2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B6B56D1-ECAA-F0A5-C73F-3FD9EDB03ADE}"/>
              </a:ext>
            </a:extLst>
          </p:cNvPr>
          <p:cNvSpPr/>
          <p:nvPr/>
        </p:nvSpPr>
        <p:spPr>
          <a:xfrm>
            <a:off x="845126" y="3717414"/>
            <a:ext cx="928955" cy="85789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3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75E05BE-D33D-0843-E481-282A68D061B8}"/>
              </a:ext>
            </a:extLst>
          </p:cNvPr>
          <p:cNvSpPr/>
          <p:nvPr/>
        </p:nvSpPr>
        <p:spPr>
          <a:xfrm>
            <a:off x="845126" y="4772346"/>
            <a:ext cx="928955" cy="85789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2"/>
                </a:solidFill>
              </a:rPr>
              <a:t>4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62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3217A-BFFD-EE3D-46D0-70D96431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실행 및 결과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A139FE-95CD-BE91-FD54-03E382136D18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지연 4">
            <a:extLst>
              <a:ext uri="{FF2B5EF4-FFF2-40B4-BE49-F238E27FC236}">
                <a16:creationId xmlns:a16="http://schemas.microsoft.com/office/drawing/2014/main" id="{391AD1F7-41DB-ED53-B0A5-2D99DDDBBE3B}"/>
              </a:ext>
            </a:extLst>
          </p:cNvPr>
          <p:cNvSpPr/>
          <p:nvPr/>
        </p:nvSpPr>
        <p:spPr>
          <a:xfrm>
            <a:off x="945222" y="1949522"/>
            <a:ext cx="2116477" cy="2930704"/>
          </a:xfrm>
          <a:prstGeom prst="flowChartDelay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실행 환경 </a:t>
            </a:r>
            <a:endParaRPr lang="en-US" altLang="ko-KR" sz="2200" dirty="0">
              <a:solidFill>
                <a:schemeClr val="tx1"/>
              </a:solidFill>
            </a:endParaRPr>
          </a:p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및</a:t>
            </a:r>
            <a:endParaRPr lang="en-US" altLang="ko-KR" sz="2200" dirty="0">
              <a:solidFill>
                <a:schemeClr val="tx1"/>
              </a:solidFill>
            </a:endParaRPr>
          </a:p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절차 요약</a:t>
            </a:r>
          </a:p>
        </p:txBody>
      </p:sp>
      <p:sp>
        <p:nvSpPr>
          <p:cNvPr id="8" name="순서도: 지연 7">
            <a:extLst>
              <a:ext uri="{FF2B5EF4-FFF2-40B4-BE49-F238E27FC236}">
                <a16:creationId xmlns:a16="http://schemas.microsoft.com/office/drawing/2014/main" id="{4BC94865-4D0E-7AEA-3CAC-F6744CD793B3}"/>
              </a:ext>
            </a:extLst>
          </p:cNvPr>
          <p:cNvSpPr/>
          <p:nvPr/>
        </p:nvSpPr>
        <p:spPr>
          <a:xfrm>
            <a:off x="3600235" y="1949522"/>
            <a:ext cx="2116477" cy="2930704"/>
          </a:xfrm>
          <a:prstGeom prst="flowChartDelay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웹 </a:t>
            </a:r>
            <a:r>
              <a:rPr lang="ko-KR" altLang="en-US" sz="2200" dirty="0" err="1">
                <a:solidFill>
                  <a:schemeClr val="tx1"/>
                </a:solidFill>
              </a:rPr>
              <a:t>브라우저에업로드</a:t>
            </a:r>
            <a:r>
              <a:rPr lang="ko-KR" altLang="en-US" sz="2200" dirty="0">
                <a:solidFill>
                  <a:schemeClr val="tx1"/>
                </a:solidFill>
              </a:rPr>
              <a:t> </a:t>
            </a:r>
            <a:r>
              <a:rPr lang="en-US" altLang="ko-KR" sz="2200" dirty="0">
                <a:solidFill>
                  <a:schemeClr val="tx1"/>
                </a:solidFill>
              </a:rPr>
              <a:t>-&gt;</a:t>
            </a:r>
          </a:p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결과 출력</a:t>
            </a:r>
          </a:p>
        </p:txBody>
      </p:sp>
      <p:sp>
        <p:nvSpPr>
          <p:cNvPr id="9" name="순서도: 지연 8">
            <a:extLst>
              <a:ext uri="{FF2B5EF4-FFF2-40B4-BE49-F238E27FC236}">
                <a16:creationId xmlns:a16="http://schemas.microsoft.com/office/drawing/2014/main" id="{530F7BFB-3BA2-6FEB-BEA5-4DD0EF4DCD46}"/>
              </a:ext>
            </a:extLst>
          </p:cNvPr>
          <p:cNvSpPr/>
          <p:nvPr/>
        </p:nvSpPr>
        <p:spPr>
          <a:xfrm>
            <a:off x="6255249" y="1963648"/>
            <a:ext cx="2116477" cy="2930704"/>
          </a:xfrm>
          <a:prstGeom prst="flowChartDelay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예시</a:t>
            </a:r>
            <a:r>
              <a:rPr lang="en-US" altLang="ko-KR" sz="2200" dirty="0">
                <a:solidFill>
                  <a:schemeClr val="tx1"/>
                </a:solidFill>
              </a:rPr>
              <a:t>: Cartoon (Confidence: 94%)</a:t>
            </a:r>
            <a:endParaRPr lang="ko-KR" altLang="en-US" sz="2200" dirty="0">
              <a:solidFill>
                <a:schemeClr val="tx1"/>
              </a:solidFill>
            </a:endParaRPr>
          </a:p>
        </p:txBody>
      </p:sp>
      <p:sp>
        <p:nvSpPr>
          <p:cNvPr id="10" name="순서도: 지연 9">
            <a:extLst>
              <a:ext uri="{FF2B5EF4-FFF2-40B4-BE49-F238E27FC236}">
                <a16:creationId xmlns:a16="http://schemas.microsoft.com/office/drawing/2014/main" id="{B54A3CED-4ABA-6117-9DF8-6F8A3597FD33}"/>
              </a:ext>
            </a:extLst>
          </p:cNvPr>
          <p:cNvSpPr/>
          <p:nvPr/>
        </p:nvSpPr>
        <p:spPr>
          <a:xfrm>
            <a:off x="8910262" y="1963648"/>
            <a:ext cx="2116477" cy="2930704"/>
          </a:xfrm>
          <a:prstGeom prst="flowChartDelay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solidFill>
                  <a:schemeClr val="tx1"/>
                </a:solidFill>
              </a:rPr>
              <a:t>시연 영상 링크</a:t>
            </a:r>
            <a:endParaRPr lang="en-US" altLang="ko-KR" sz="2200" dirty="0">
              <a:solidFill>
                <a:schemeClr val="tx1"/>
              </a:solidFill>
            </a:endParaRPr>
          </a:p>
          <a:p>
            <a:pPr algn="ctr"/>
            <a:r>
              <a:rPr lang="en-US" altLang="ko-KR" sz="2200" dirty="0">
                <a:solidFill>
                  <a:schemeClr val="tx1"/>
                </a:solidFill>
              </a:rPr>
              <a:t>()</a:t>
            </a:r>
            <a:endParaRPr lang="ko-KR" alt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8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41A3B-ED36-3657-B4EB-74F704A0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사용 사례 </a:t>
            </a:r>
            <a:r>
              <a:rPr lang="en-US" altLang="ko-KR" b="1" dirty="0"/>
              <a:t>/ </a:t>
            </a:r>
            <a:r>
              <a:rPr lang="ko-KR" altLang="en-US" b="1" dirty="0"/>
              <a:t>활용 가능 영역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577AB-10DE-6A50-2137-4F3CE80BC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웹툰 </a:t>
            </a:r>
            <a:r>
              <a:rPr lang="en-US" altLang="ko-KR" dirty="0"/>
              <a:t>/ </a:t>
            </a:r>
            <a:r>
              <a:rPr lang="ko-KR" altLang="en-US" dirty="0"/>
              <a:t>애니 이미지 분류</a:t>
            </a:r>
            <a:endParaRPr lang="en-US" altLang="ko-KR" dirty="0"/>
          </a:p>
          <a:p>
            <a:r>
              <a:rPr lang="ko-KR" altLang="en-US" dirty="0"/>
              <a:t>콘텐츠 자동 </a:t>
            </a:r>
            <a:r>
              <a:rPr lang="ko-KR" altLang="en-US" dirty="0" err="1"/>
              <a:t>태깅</a:t>
            </a:r>
            <a:r>
              <a:rPr lang="ko-KR" altLang="en-US" dirty="0"/>
              <a:t> 및 관리</a:t>
            </a:r>
            <a:endParaRPr lang="en-US" altLang="ko-KR" dirty="0"/>
          </a:p>
          <a:p>
            <a:r>
              <a:rPr lang="ko-KR" altLang="en-US" dirty="0"/>
              <a:t>이미지 필터링</a:t>
            </a:r>
            <a:r>
              <a:rPr lang="en-US" altLang="ko-KR" dirty="0"/>
              <a:t>, AI </a:t>
            </a:r>
            <a:r>
              <a:rPr lang="ko-KR" altLang="en-US" dirty="0"/>
              <a:t>기반 추천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807DE-FE33-A0E7-4605-9999B9017AAD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332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C70DD-53BC-C858-91BA-5C3F622F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사진 첨부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B605AA-C837-92D5-4370-ABE083E0A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95" y="1458380"/>
            <a:ext cx="4730993" cy="45023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D5F5395-2F97-75BC-B16C-6860AF8C2877}"/>
              </a:ext>
            </a:extLst>
          </p:cNvPr>
          <p:cNvSpPr/>
          <p:nvPr/>
        </p:nvSpPr>
        <p:spPr>
          <a:xfrm>
            <a:off x="0" y="6000108"/>
            <a:ext cx="12192000" cy="8578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4BD22C5-0071-1B1B-6F79-B9A823ABC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155" y="1527224"/>
            <a:ext cx="3892750" cy="443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16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43871-627D-F052-C571-D9A2CEC6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영상 첨부</a:t>
            </a:r>
          </a:p>
        </p:txBody>
      </p:sp>
      <p:pic>
        <p:nvPicPr>
          <p:cNvPr id="4" name="bandicam 2025-11-02 16-38-32-739">
            <a:hlinkClick r:id="" action="ppaction://media"/>
            <a:extLst>
              <a:ext uri="{FF2B5EF4-FFF2-40B4-BE49-F238E27FC236}">
                <a16:creationId xmlns:a16="http://schemas.microsoft.com/office/drawing/2014/main" id="{758101BF-5170-9FB1-47F6-6A584702120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3450" y="1828800"/>
            <a:ext cx="10337800" cy="4351338"/>
          </a:xfrm>
        </p:spPr>
      </p:pic>
    </p:spTree>
    <p:extLst>
      <p:ext uri="{BB962C8B-B14F-4D97-AF65-F5344CB8AC3E}">
        <p14:creationId xmlns:p14="http://schemas.microsoft.com/office/powerpoint/2010/main" val="108780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BE3FC-DD77-C71A-15C3-DB6EC469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동영상 링크 제출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0AFAF-B76E-CBD9-8919-CC4E1DE21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https://youtu.be/DI419gLgVTQ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410835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232</TotalTime>
  <Words>275</Words>
  <Application>Microsoft Office PowerPoint</Application>
  <PresentationFormat>와이드스크린</PresentationFormat>
  <Paragraphs>67</Paragraphs>
  <Slides>11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Calibri</vt:lpstr>
      <vt:lpstr>Calibri Light</vt:lpstr>
      <vt:lpstr>Wingdings 2</vt:lpstr>
      <vt:lpstr>HDOfficeLightV0</vt:lpstr>
      <vt:lpstr>만화 vs 실사 이미지 분류 웹 서비스</vt:lpstr>
      <vt:lpstr>이미지 분류 – 목적 및 기대효과</vt:lpstr>
      <vt:lpstr>프로젝트 개요</vt:lpstr>
      <vt:lpstr>시스템 구성</vt:lpstr>
      <vt:lpstr>모델 및 데이터</vt:lpstr>
      <vt:lpstr>주요 기능</vt:lpstr>
      <vt:lpstr>실행 및 결과</vt:lpstr>
      <vt:lpstr>사용 사례 / 활용 가능 영역</vt:lpstr>
      <vt:lpstr>실행 사진 첨부</vt:lpstr>
      <vt:lpstr>실행 영상 첨부</vt:lpstr>
      <vt:lpstr>동영상 링크 제출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소진 윤</dc:creator>
  <cp:lastModifiedBy>소진 윤</cp:lastModifiedBy>
  <cp:revision>26</cp:revision>
  <dcterms:created xsi:type="dcterms:W3CDTF">2025-10-24T10:48:36Z</dcterms:created>
  <dcterms:modified xsi:type="dcterms:W3CDTF">2025-11-02T09:40:23Z</dcterms:modified>
</cp:coreProperties>
</file>